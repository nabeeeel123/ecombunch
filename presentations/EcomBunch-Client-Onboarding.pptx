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5029200" cy="50292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572000" cy="45720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0607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ECOMBUNCH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Onboarding Playbook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take a new ecommerce client from signed deal to a running, profitable store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5120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2-Step   •   eBay Dropshipping   •   Walmart 2-Step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Partner Review  |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Three Service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signs up for one (or more) of these — onboarding is tailored per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" y="160020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25400" dir="5400000">
              <a:srgbClr val="9AA3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3816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6" y="21342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3816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2-Step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13816" y="34015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Sam's Club &amp; Walmart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13816" y="38404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products bought from Sam's Club / Walmart, routed through a prep or middle address, then shipped to the Amazon customer. Cleaner tracking, fewer flags, higher trust.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34256" y="160020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25400" dir="5400000">
              <a:srgbClr val="9AA3C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54296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266" y="213421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4296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eBay Dropshipping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654296" y="34015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AliExpress, Temu &amp; Walmart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654296" y="38404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products listed on eBay and fulfilled directly from AliExpress, Temu, or Walmart. Fast to launch, low capital requirement, high listing volume.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74736" y="160020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25400" dir="5400000">
              <a:srgbClr val="9AA3C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94776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746" y="213421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94776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Walmart 2-Step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8494776" y="34015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Sam's Club &amp; Walmart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494776" y="38404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on Walmart Marketplace with products sourced from Sam's Club and other retailers, fulfilled via the 2-step route. Less competition, growing platform.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onboarding system, three tailored tracks — the client always sees the same professional process.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 Onboarding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6 steps for every client, regardless of model — target: live within 30 days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88036" y="1645920"/>
            <a:ext cx="3657600" cy="1481328"/>
          </a:xfrm>
          <a:prstGeom prst="roundRect">
            <a:avLst>
              <a:gd name="adj" fmla="val 6173"/>
            </a:avLst>
          </a:prstGeom>
          <a:solidFill>
            <a:srgbClr val="F4F7FE"/>
          </a:solidFill>
          <a:ln/>
        </p:spPr>
      </p:sp>
      <p:sp>
        <p:nvSpPr>
          <p:cNvPr id="5" name="Shape 3"/>
          <p:cNvSpPr/>
          <p:nvPr/>
        </p:nvSpPr>
        <p:spPr>
          <a:xfrm>
            <a:off x="489204" y="186537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605" y="201277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2436" y="17922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Kickoff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02436" y="212140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email + kickoff call within 48 hrs. Intake form: goals, budget, timezone, decision-maker.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65676" y="1645920"/>
            <a:ext cx="3657600" cy="1481328"/>
          </a:xfrm>
          <a:prstGeom prst="roundRect">
            <a:avLst>
              <a:gd name="adj" fmla="val 6173"/>
            </a:avLst>
          </a:prstGeom>
          <a:solidFill>
            <a:srgbClr val="F4F7FE"/>
          </a:solidFill>
          <a:ln/>
        </p:spPr>
      </p:sp>
      <p:sp>
        <p:nvSpPr>
          <p:cNvPr id="10" name="Shape 7"/>
          <p:cNvSpPr/>
          <p:nvPr/>
        </p:nvSpPr>
        <p:spPr>
          <a:xfrm>
            <a:off x="4466844" y="186537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245" y="201277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80076" y="17922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Contract &amp; Legal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180076" y="212140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agreement / profit-split terms, LLC + EIN check, W-8/W-9 paperwork, NDA if requested.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43316" y="1645920"/>
            <a:ext cx="3657600" cy="1481328"/>
          </a:xfrm>
          <a:prstGeom prst="roundRect">
            <a:avLst>
              <a:gd name="adj" fmla="val 6173"/>
            </a:avLst>
          </a:prstGeom>
          <a:solidFill>
            <a:srgbClr val="F4F7FE"/>
          </a:solidFill>
          <a:ln/>
        </p:spPr>
      </p:sp>
      <p:sp>
        <p:nvSpPr>
          <p:cNvPr id="15" name="Shape 11"/>
          <p:cNvSpPr/>
          <p:nvPr/>
        </p:nvSpPr>
        <p:spPr>
          <a:xfrm>
            <a:off x="8444484" y="186537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885" y="201277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57716" y="17922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Access Setup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57716" y="212140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accounts, sourcing accounts, payment (Payoneer / bank), software logins — via secure checklist.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88036" y="3419856"/>
            <a:ext cx="3657600" cy="1481328"/>
          </a:xfrm>
          <a:prstGeom prst="roundRect">
            <a:avLst>
              <a:gd name="adj" fmla="val 6173"/>
            </a:avLst>
          </a:prstGeom>
          <a:solidFill>
            <a:srgbClr val="EEF3FF"/>
          </a:solidFill>
          <a:ln/>
        </p:spPr>
      </p:sp>
      <p:sp>
        <p:nvSpPr>
          <p:cNvPr id="20" name="Shape 15"/>
          <p:cNvSpPr/>
          <p:nvPr/>
        </p:nvSpPr>
        <p:spPr>
          <a:xfrm>
            <a:off x="489204" y="36393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05" y="378671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02436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 Setup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202436" y="389534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Model-specific track: ungating, memberships, prep center, listing software, product research.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65676" y="3419856"/>
            <a:ext cx="3657600" cy="1481328"/>
          </a:xfrm>
          <a:prstGeom prst="roundRect">
            <a:avLst>
              <a:gd name="adj" fmla="val 6173"/>
            </a:avLst>
          </a:prstGeom>
          <a:solidFill>
            <a:srgbClr val="EEF3FF"/>
          </a:solidFill>
          <a:ln/>
        </p:spPr>
      </p:sp>
      <p:sp>
        <p:nvSpPr>
          <p:cNvPr id="25" name="Shape 19"/>
          <p:cNvSpPr/>
          <p:nvPr/>
        </p:nvSpPr>
        <p:spPr>
          <a:xfrm>
            <a:off x="4466844" y="36393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245" y="378671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80076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Launch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180076" y="389534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listings live, order flow tested end-to-end with a trial order, buy-box / pricing checks.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43316" y="3419856"/>
            <a:ext cx="3657600" cy="1481328"/>
          </a:xfrm>
          <a:prstGeom prst="roundRect">
            <a:avLst>
              <a:gd name="adj" fmla="val 6173"/>
            </a:avLst>
          </a:prstGeom>
          <a:solidFill>
            <a:srgbClr val="EEF3FF"/>
          </a:solidFill>
          <a:ln/>
        </p:spPr>
      </p:sp>
      <p:sp>
        <p:nvSpPr>
          <p:cNvPr id="30" name="Shape 23"/>
          <p:cNvSpPr/>
          <p:nvPr/>
        </p:nvSpPr>
        <p:spPr>
          <a:xfrm>
            <a:off x="8444484" y="36393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1885" y="378671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57716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Scale &amp; Report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157716" y="389534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Friday report (sales, profit, issues, next steps) + monthly strategy call in client's timezone.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288036" y="5349240"/>
            <a:ext cx="1161288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35" name="Text 27"/>
          <p:cNvSpPr/>
          <p:nvPr/>
        </p:nvSpPr>
        <p:spPr>
          <a:xfrm>
            <a:off x="562356" y="5349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the first 30 days: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over-communicate. A short update every Friday keeps clients calm, loyal, and referring.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7863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916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2-Step Model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8346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from Sam's Club &amp; Walmart, fulfilled through a middle / prep address for clean tracking and account safety.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886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MUST BRING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224528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Seller account (LLC + EIN preferred)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Sam's Club Plus &amp; Walmart+ memberships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product float + software ($1.5k–$3k to start)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with cashback (extra 1–5% margin)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9120" y="411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Onboarding Track (Weeks 1–4)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389120" y="11064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4389120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0" y="105156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audit &amp; health check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029200" y="1344168"/>
            <a:ext cx="6675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or create the Seller account, verify identity documents, check for flags, enable 2FA, set up Payoneer/bank payouts.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89120" y="2039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438912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29200" y="198424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accounts &amp; ungating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029200" y="2276856"/>
            <a:ext cx="6675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Sam's Club / Walmart business accounts, apply for category ungating with retail invoices where needed.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89120" y="2971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43891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29200" y="291693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2-step logistics setup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029200" y="3209544"/>
            <a:ext cx="6675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the middle address / prep partner, define the reship workflow, label handling, and returns address.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89120" y="39044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0"/>
          <p:cNvSpPr/>
          <p:nvPr/>
        </p:nvSpPr>
        <p:spPr>
          <a:xfrm>
            <a:off x="438912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029200" y="3849624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research &amp; listing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5029200" y="4142232"/>
            <a:ext cx="6675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ASIN list (SellerAmp / Tactical Arbitrage style analysis), min 30% ROI rule, list first 20–50 products.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389120" y="48371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438912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029200" y="478231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Repricing &amp; order flow live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5029200" y="5074920"/>
            <a:ext cx="6675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Repricer configured, first trial order end-to-end, then daily order processing with tracking upload.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389120" y="576986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8"/>
          <p:cNvSpPr/>
          <p:nvPr/>
        </p:nvSpPr>
        <p:spPr>
          <a:xfrm>
            <a:off x="4389120" y="5769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029200" y="571500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to weekly rhythm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5029200" y="6007608"/>
            <a:ext cx="6675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dashboard access, Friday profit report, monthly strategy call.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7863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916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eBay Dropshipping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8346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listings on eBay, fulfilled directly from AliExpress, Temu and Walmart. Fastest, lowest-capital model to launch.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886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MUST BRING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224528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Seller account (aged account is a plus)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/ Payoneer for payouts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AliExpress, Temu &amp; Walmart buyer accounts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software + small float ($500–$1k to start)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9120" y="411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Onboarding Track (Weeks 1–3)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389120" y="11064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4389120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0" y="105156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 &amp; selling limits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029200" y="1344168"/>
            <a:ext cx="6675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eBay account, review selling limits, plan the limit-increase schedule (list consistently, request raises monthly).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89120" y="2039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438912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29200" y="198424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accounts ready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029200" y="2276856"/>
            <a:ext cx="6675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AliExpress, Temu, and Walmart accounts with saved payment methods; identify backup suppliers per product.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89120" y="2971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43891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29200" y="291693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029200" y="3209544"/>
            <a:ext cx="6675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&amp; fulfillment automation (AutoDS or similar), product research tool (Zik Analytics), tracking-number conversion service.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89120" y="39044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0"/>
          <p:cNvSpPr/>
          <p:nvPr/>
        </p:nvSpPr>
        <p:spPr>
          <a:xfrm>
            <a:off x="438912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029200" y="3849624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research &amp; first listings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5029200" y="4142232"/>
            <a:ext cx="6675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initial listings in proven niches, optimized titles, competitive pricing with 15–30% markup.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389120" y="48371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438912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029200" y="478231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tracking workflow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5029200" y="5074920"/>
            <a:ext cx="6675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fulfillment routine, upload converted tracking, monitor delivery times to protect seller metrics.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389120" y="576986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8"/>
          <p:cNvSpPr/>
          <p:nvPr/>
        </p:nvSpPr>
        <p:spPr>
          <a:xfrm>
            <a:off x="4389120" y="5769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029200" y="571500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scaling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5029200" y="6007608"/>
            <a:ext cx="6675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feedback push, resolve cases fast, scale listings weekly as limits increase. Friday report to client.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7863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916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Walmart 2-Step Model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8346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on Walmart Marketplace, sourcing from Sam's Club and other retailers via the 2-step route. Less competition than Amazon.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886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MUST BRING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224528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LLC + EIN + W-9 (Walmart requires this)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Seller Center approval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Sam's Club Plus membership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product float + software ($1.5k–$3k to start)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9120" y="411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Onboarding Track (Weeks 1–4)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389120" y="11064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4389120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0" y="105156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application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029200" y="1344168"/>
            <a:ext cx="6675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Seller Center application with LLC, EIN, W-9 and business details — approval can take 1–2 weeks, so this starts on day 1.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89120" y="2039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438912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29200" y="198424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account setup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029200" y="2276856"/>
            <a:ext cx="6675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Sam's Club business account (+ Walmart, Lowe's, Home Depot as secondary sources), cashback cards attached.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89120" y="2971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43891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29200" y="291693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2-step logistics setup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029200" y="3209544"/>
            <a:ext cx="6675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prep/middle-address workflow as Amazon: clean labels, retail packaging removed, tracking uploaded from the reship leg.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89120" y="39044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0"/>
          <p:cNvSpPr/>
          <p:nvPr/>
        </p:nvSpPr>
        <p:spPr>
          <a:xfrm>
            <a:off x="438912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029200" y="3849624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pricing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5029200" y="4142232"/>
            <a:ext cx="6675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Match/create listings, win the Walmart buy box with competitive pricing; repricer configured with floor prices.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389120" y="48371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438912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029200" y="478231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order &amp; go live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5029200" y="5074920"/>
            <a:ext cx="6675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order, confirm on-time delivery metrics, then open daily order processing.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389120" y="576986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8"/>
          <p:cNvSpPr/>
          <p:nvPr/>
        </p:nvSpPr>
        <p:spPr>
          <a:xfrm>
            <a:off x="4389120" y="5769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029200" y="571500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watch &amp; scale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5029200" y="6007608"/>
            <a:ext cx="6675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is strict on on-time shipping &amp; cancellation rates — daily monitoring, weekly client report.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Requirements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checklist we walk through on the kickoff call — one page per client, signed off before we build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" y="160020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F4F7FE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847088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9796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9616" y="18470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2-Step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13816" y="26974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Seller account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LLC + EIN (recommended)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Sam's Club + Walmart memberships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Payoneer / US bank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$1.5k–$3k starting float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4256" y="160020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F4F7FE"/>
          </a:solidFill>
          <a:ln/>
        </p:spPr>
      </p:sp>
      <p:sp>
        <p:nvSpPr>
          <p:cNvPr id="10" name="Shape 7"/>
          <p:cNvSpPr/>
          <p:nvPr/>
        </p:nvSpPr>
        <p:spPr>
          <a:xfrm>
            <a:off x="4608576" y="1847088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164" y="19796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0096" y="18470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Dropshipping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54296" y="26974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Seller account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/ Payoneer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AliExpress + Temu + Walmart accounts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LLC required to start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$500–$1k starting float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74736" y="160020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F4F7FE"/>
          </a:solidFill>
          <a:ln/>
        </p:spPr>
      </p:sp>
      <p:sp>
        <p:nvSpPr>
          <p:cNvPr id="15" name="Shape 11"/>
          <p:cNvSpPr/>
          <p:nvPr/>
        </p:nvSpPr>
        <p:spPr>
          <a:xfrm>
            <a:off x="8449056" y="1847088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644" y="19796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0576" y="18470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2-Step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94776" y="26974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LLC + EIN + W-9 (mandatory)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Seller approval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Sam's Club membership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Payoneer / US bank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$1.5k–$3k starting float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93776" y="5669280"/>
            <a:ext cx="11201400" cy="68580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0" name="Text 15"/>
          <p:cNvSpPr/>
          <p:nvPr/>
        </p:nvSpPr>
        <p:spPr>
          <a:xfrm>
            <a:off x="768096" y="566928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starts until access, paperwork, and float are confirmed — protects us from unpaid work.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we should add to the offer to look more professional and protect the business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88036" y="164592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9204" y="184708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096" y="1984980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6716" y="17739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layer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56716" y="21031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supplier accounts, prep-center buffer, strict platform-metric monitoring, and clear client disclosure that marketplaces can suspend accounts — put it in the contract.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65676" y="164592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66844" y="184708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736" y="1984980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34356" y="17739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pricing packages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134356" y="21031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fee + monthly retainer, or setup fee + profit split (e.g. 30–50%). Define who funds product float in writing. No 'we'll figure it out later'.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243316" y="164592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4484" y="184708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376" y="1984980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11996" y="17739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tool stack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111996" y="21031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agreed stack per model (research, listing, repricing, tracking). Bulk-buy licenses so margins improve as clients grow.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88036" y="338328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" y="358444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96" y="3722340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56716" y="35112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reporting system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156716" y="38404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Friday report template: sales, profit, issues, next actions. This alone reduces churn more than anything else.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65676" y="338328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66844" y="3584448"/>
            <a:ext cx="530352" cy="530352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736" y="3722340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34356" y="35112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model: TikTok Shop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134356" y="38404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TikTok Shop is growing fast and fits our sourcing skills — pilot it internally first, then add as a 4th client offer.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243316" y="338328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9AA3C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44484" y="358444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2376" y="3722340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11996" y="35112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engine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9111996" y="38404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first profitable month, ask every US client for one referral + a testimonial video. US clients trust peer proof.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step: pilot TikTok Shop with our own store before selling it as a service.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90-Day Client Journey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promise a client — and the KPIs we hold ourselves 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85216" y="2670048"/>
            <a:ext cx="11018520" cy="4114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335024" y="237744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335024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10896" y="3154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1–14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" y="3474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Complete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02336" y="38862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signed, all access collected, sourcing accounts + logistics ready, software configured.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06824" y="237744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06824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82696" y="3154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15–30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82696" y="3474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Live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374136" y="38862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listings published, trial order shipped end-to-end, daily order workflow running.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78624" y="237744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278624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54496" y="3154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54496" y="3474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Consistent Sales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45936" y="38862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products identified, listings scaled weekly, seller metrics kept healthy.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250424" y="2377440"/>
            <a:ext cx="603504" cy="6035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10250424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26296" y="3154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26296" y="3474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Profitable &amp; Scaling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17736" y="38862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consistent weekly profit, reorder rhythm on winners, client sees clear ROI and renews.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" y="5623560"/>
            <a:ext cx="11567160" cy="731520"/>
          </a:xfrm>
          <a:prstGeom prst="roundRect">
            <a:avLst>
              <a:gd name="adj" fmla="val 12500"/>
            </a:avLst>
          </a:prstGeom>
          <a:solidFill>
            <a:srgbClr val="F4F7FE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" y="5623560"/>
            <a:ext cx="11018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promise:  </a:t>
            </a:r>
            <a:pPr indent="0" marL="0">
              <a:buNone/>
            </a:pPr>
            <a:r>
              <a:rPr lang="en-US" sz="13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within 12 business hours, Friday report every week, monthly call in the client's US timezone.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-1828800"/>
            <a:ext cx="4389120" cy="438912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pricing packages and profit-split terms between us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8346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the one-page onboarding checklist + contract template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37033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703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shared tool stack and reporting template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5720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the first USA client using this playbook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EcomBunch — built to onboard, launch, and scale US ecommerce clients.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2026-08-13T20:38:04Z</dcterms:created>
  <dcterms:modified xsi:type="dcterms:W3CDTF">2026-08-13T20:38:04Z</dcterms:modified>
</cp:coreProperties>
</file>