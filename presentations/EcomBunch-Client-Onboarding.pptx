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5029200" cy="5029200"/>
          </a:xfrm>
          <a:prstGeom prst="ellipse">
            <a:avLst/>
          </a:prstGeom>
          <a:solidFill>
            <a:srgbClr val="27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754880"/>
            <a:ext cx="4572000" cy="4572000"/>
          </a:xfrm>
          <a:prstGeom prst="ellipse">
            <a:avLst/>
          </a:prstGeom>
          <a:solidFill>
            <a:srgbClr val="27306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777240"/>
            <a:ext cx="475488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Onboarding Playbook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822960" y="41148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take a new ecommerce client from signed deal to a running, profitable store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51206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2-Step   •   eBay Dropshipping   •   Walmart 2-Step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Partner Review  | 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384048"/>
            <a:ext cx="1920240" cy="521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Three Service Models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signs up for one (or more) of these — onboarding is tailored per model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93776" y="160020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25400" dir="5400000">
              <a:srgbClr val="9AA3C0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13816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6" y="2134210"/>
            <a:ext cx="395021" cy="3950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3816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2-Step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813816" y="34015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Sam's Club &amp; Walmart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13816" y="38404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products bought from Sam's Club / Walmart, routed through a prep or middle address, then shipped to the Amazon customer. Cleaner tracking, fewer flags, higher trust.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34256" y="160020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25400" dir="5400000">
              <a:srgbClr val="9AA3C0">
                <a:alpha val="3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8266" y="2134210"/>
            <a:ext cx="395021" cy="3950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54296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eBay Dropshipping</a:t>
            </a:r>
            <a:endParaRPr lang="en-US" sz="2100" dirty="0"/>
          </a:p>
        </p:txBody>
      </p:sp>
      <p:sp>
        <p:nvSpPr>
          <p:cNvPr id="15" name="Text 10"/>
          <p:cNvSpPr/>
          <p:nvPr/>
        </p:nvSpPr>
        <p:spPr>
          <a:xfrm>
            <a:off x="4654296" y="34015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AliExpress, Temu &amp; Walmart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4654296" y="38404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products listed on eBay and fulfilled directly from AliExpress, Temu, or Walmart. Fast to launch, low capital requirement, high listing volume.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74736" y="160020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25400" dir="5400000">
              <a:srgbClr val="9AA3C0">
                <a:alpha val="35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494776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8746" y="2134210"/>
            <a:ext cx="395021" cy="39502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494776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Walmart 2-Step</a:t>
            </a:r>
            <a:endParaRPr lang="en-US" sz="2100" dirty="0"/>
          </a:p>
        </p:txBody>
      </p:sp>
      <p:sp>
        <p:nvSpPr>
          <p:cNvPr id="21" name="Text 15"/>
          <p:cNvSpPr/>
          <p:nvPr/>
        </p:nvSpPr>
        <p:spPr>
          <a:xfrm>
            <a:off x="8494776" y="34015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Sam's Club &amp; Walmart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8494776" y="38404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on Walmart Marketplace with products sourced from Sam's Club and other retailers, fulfilled via the 2-step route. Less competition, growing platform.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onboarding system, three tailored tracks — the client always sees the same professional process.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384048"/>
            <a:ext cx="1920240" cy="521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Universal Onboarding Flow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6 steps for every client, regardless of model — target: live within 30 days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88036" y="1645920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F4F7FE"/>
          </a:solidFill>
          <a:ln/>
        </p:spPr>
      </p:sp>
      <p:sp>
        <p:nvSpPr>
          <p:cNvPr id="6" name="Shape 3"/>
          <p:cNvSpPr/>
          <p:nvPr/>
        </p:nvSpPr>
        <p:spPr>
          <a:xfrm>
            <a:off x="489204" y="186537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605" y="2012777"/>
            <a:ext cx="272125" cy="2721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02436" y="179222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Kickoff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202436" y="21214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email + kickoff call within 48 hrs. Intake form: goals, budget, timezone, decision-maker.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265676" y="1645920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F4F7FE"/>
          </a:solidFill>
          <a:ln/>
        </p:spPr>
      </p:sp>
      <p:sp>
        <p:nvSpPr>
          <p:cNvPr id="11" name="Shape 7"/>
          <p:cNvSpPr/>
          <p:nvPr/>
        </p:nvSpPr>
        <p:spPr>
          <a:xfrm>
            <a:off x="4466844" y="186537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4245" y="2012777"/>
            <a:ext cx="272125" cy="2721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180076" y="179222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Contract &amp; Legal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5180076" y="21214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agreement / profit-split terms, LLC + EIN check, W-8/W-9 paperwork, NDA if requested.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243316" y="1645920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F4F7FE"/>
          </a:solidFill>
          <a:ln/>
        </p:spPr>
      </p:sp>
      <p:sp>
        <p:nvSpPr>
          <p:cNvPr id="16" name="Shape 11"/>
          <p:cNvSpPr/>
          <p:nvPr/>
        </p:nvSpPr>
        <p:spPr>
          <a:xfrm>
            <a:off x="8444484" y="186537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885" y="2012777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57716" y="179222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Access Setup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157716" y="21214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accounts, sourcing accounts, payment (Payoneer / bank), software logins — via secure checklist.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288036" y="3419856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EEF3FF"/>
          </a:solidFill>
          <a:ln/>
        </p:spPr>
      </p:sp>
      <p:sp>
        <p:nvSpPr>
          <p:cNvPr id="21" name="Shape 15"/>
          <p:cNvSpPr/>
          <p:nvPr/>
        </p:nvSpPr>
        <p:spPr>
          <a:xfrm>
            <a:off x="489204" y="363931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605" y="3786713"/>
            <a:ext cx="272125" cy="27212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02436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 Setup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1202436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Model-specific track: ungating, memberships, prep center, listing software, product research.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4265676" y="3419856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EEF3FF"/>
          </a:solidFill>
          <a:ln/>
        </p:spPr>
      </p:sp>
      <p:sp>
        <p:nvSpPr>
          <p:cNvPr id="26" name="Shape 19"/>
          <p:cNvSpPr/>
          <p:nvPr/>
        </p:nvSpPr>
        <p:spPr>
          <a:xfrm>
            <a:off x="4466844" y="363931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4245" y="3786713"/>
            <a:ext cx="272125" cy="272125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180076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Launch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5180076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listings live, order flow tested end-to-end with a trial order, buy-box / pricing checks.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8243316" y="3419856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EEF3FF"/>
          </a:solidFill>
          <a:ln/>
        </p:spPr>
      </p:sp>
      <p:sp>
        <p:nvSpPr>
          <p:cNvPr id="31" name="Shape 23"/>
          <p:cNvSpPr/>
          <p:nvPr/>
        </p:nvSpPr>
        <p:spPr>
          <a:xfrm>
            <a:off x="8444484" y="363931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1885" y="3786713"/>
            <a:ext cx="272125" cy="272125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157716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Scale &amp; Report</a:t>
            </a:r>
            <a:endParaRPr lang="en-US" sz="1500" dirty="0"/>
          </a:p>
        </p:txBody>
      </p:sp>
      <p:sp>
        <p:nvSpPr>
          <p:cNvPr id="34" name="Text 25"/>
          <p:cNvSpPr/>
          <p:nvPr/>
        </p:nvSpPr>
        <p:spPr>
          <a:xfrm>
            <a:off x="9157716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Friday report (sales, profit, issues, next steps) + monthly strategy call in client's timezone.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288036" y="5349240"/>
            <a:ext cx="1161288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/>
        </p:spPr>
      </p:sp>
      <p:sp>
        <p:nvSpPr>
          <p:cNvPr id="36" name="Text 27"/>
          <p:cNvSpPr/>
          <p:nvPr/>
        </p:nvSpPr>
        <p:spPr>
          <a:xfrm>
            <a:off x="562356" y="5349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the first 30 days: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over-communicate. A short update every Friday keeps clients calm, loyal, and referring.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78638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2-Step Model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8346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from Sam's Club &amp; Walmart, fulfilled through a middle / prep address for clean tracking and account safety.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3886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MUST BRING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Seller account (LLC + EIN preferred)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Sam's Club Plus &amp; Walmart+ memberships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product float + software ($1.5k–$3k to start)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with cashback (extra 1–5% margin)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389120" y="411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Onboarding Track (Weeks 1–4)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389120" y="11064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389120" y="1106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105156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audit &amp; health check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29200" y="134416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or create the Seller account, verify identity documents, check for flags, enable 2FA, set up Payoneer/bank payouts.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89120" y="2039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438912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198424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accounts &amp; ungating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5029200" y="2276856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Sam's Club / Walmart business accounts, apply for category ungating with retail invoices where needed.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89120" y="2971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029200" y="29169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 logistics setup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5029200" y="3209544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the middle address / prep partner, define the reship workflow, label handling, and returns address.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389120" y="39044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438912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029200" y="384962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research &amp; listing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5029200" y="4142232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ASIN list (SellerAmp / Tactical Arbitrage style analysis), min 30% ROI rule, list first 20–50 products.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389120" y="48371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029200" y="478231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Repricing &amp; order flow live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5029200" y="5074920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Repricer configured, first trial order end-to-end, then daily order processing with tracking upload.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389120" y="576986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8"/>
          <p:cNvSpPr/>
          <p:nvPr/>
        </p:nvSpPr>
        <p:spPr>
          <a:xfrm>
            <a:off x="4389120" y="5769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029200" y="5715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to weekly rhythm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5029200" y="600760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dashboard access, Friday profit report, monthly strategy call.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78638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eBay Dropshipping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8346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listings on eBay, fulfilled directly from AliExpress, Temu and Walmart. Fastest, lowest-capital model to launch.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3886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MUST BRING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eBay Seller account (aged account is a plus)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/ Payoneer for payouts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AliExpress, Temu &amp; Walmart buyer accounts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software + small float ($500–$1k to start)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389120" y="411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Onboarding Track (Weeks 1–3)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389120" y="11064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389120" y="1106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105156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setup &amp; selling limits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29200" y="134416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eBay account, review selling limits, plan the limit-increase schedule (list consistently, request raises monthly).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89120" y="2039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438912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198424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accounts ready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5029200" y="2276856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AliExpress, Temu, and Walmart accounts with saved payment methods; identify backup suppliers per product.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89120" y="2971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029200" y="29169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stack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5029200" y="3209544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&amp; fulfillment automation (AutoDS or similar), product research tool (Zik Analytics), tracking-number conversion service.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389120" y="39044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438912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029200" y="384962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research &amp; first listings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5029200" y="4142232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initial listings in proven niches, optimized titles, competitive pricing with 15–30% markup.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389120" y="48371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029200" y="478231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&amp; tracking workflow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5029200" y="5074920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fulfillment routine, upload converted tracking, monitor delivery times to protect seller metrics.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389120" y="576986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8"/>
          <p:cNvSpPr/>
          <p:nvPr/>
        </p:nvSpPr>
        <p:spPr>
          <a:xfrm>
            <a:off x="4389120" y="5769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029200" y="5715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scaling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5029200" y="600760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feedback push, resolve cases fast, scale listings weekly as limits increase. Friday report to client.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78638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Walmart 2-Step Model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8346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on Walmart Marketplace, sourcing from Sam's Club and other retailers via the 2-step route. Less competition than Amazon.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3886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MUST BRING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LLC + EIN + W-9 (Walmart requires this)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Seller Center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Sam's Club Plus membership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product float + software ($1.5k–$3k to start)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389120" y="411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Onboarding Track (Weeks 1–4)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389120" y="11064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389120" y="1106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105156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application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29200" y="134416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Seller Center application with LLC, EIN, W-9 and business details — approval can take 1–2 weeks, so this starts on day 1.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89120" y="2039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438912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198424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account setup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5029200" y="2276856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Sam's Club business account (+ Walmart, Lowe's, Home Depot as secondary sources), cashback cards attached.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89120" y="2971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029200" y="29169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 logistics setup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5029200" y="3209544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prep/middle-address workflow as Amazon: clean labels, retail packaging removed, tracking uploaded from the reship leg.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389120" y="39044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438912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029200" y="384962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&amp; pricing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5029200" y="4142232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Match/create listings, win the Walmart buy box with competitive pricing; repricer configured with floor prices.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389120" y="48371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029200" y="478231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order &amp; go live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5029200" y="5074920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 order, confirm on-time delivery metrics, then open daily order processing.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389120" y="576986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8"/>
          <p:cNvSpPr/>
          <p:nvPr/>
        </p:nvSpPr>
        <p:spPr>
          <a:xfrm>
            <a:off x="4389120" y="5769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029200" y="5715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watch &amp; scale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5029200" y="600760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is strict on on-time shipping &amp; cancellation rates — daily monitoring, weekly client report.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384048"/>
            <a:ext cx="1920240" cy="521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Requirements at a Glance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we walk through on the kickoff call — one page per client, signed off before we build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93776" y="160020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847088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1979676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99616" y="18470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2-Step</a:t>
            </a:r>
            <a:endParaRPr lang="en-US" sz="1650" dirty="0"/>
          </a:p>
        </p:txBody>
      </p:sp>
      <p:sp>
        <p:nvSpPr>
          <p:cNvPr id="9" name="Text 5"/>
          <p:cNvSpPr/>
          <p:nvPr/>
        </p:nvSpPr>
        <p:spPr>
          <a:xfrm>
            <a:off x="813816" y="269748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Seller account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LLC + EIN (recommended)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Sam's Club + Walmart memberships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Payoneer / US bank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$1.5k–$3k starting float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34256" y="160020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</p:spPr>
      </p:sp>
      <p:sp>
        <p:nvSpPr>
          <p:cNvPr id="11" name="Shape 7"/>
          <p:cNvSpPr/>
          <p:nvPr/>
        </p:nvSpPr>
        <p:spPr>
          <a:xfrm>
            <a:off x="4608576" y="1847088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164" y="1979676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40096" y="18470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eBay Dropshipping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4654296" y="269748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eBay Seller account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/ Payoneer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AliExpress + Temu + Walmart accounts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LLC required to start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$500–$1k starting float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174736" y="160020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</p:spPr>
      </p:sp>
      <p:sp>
        <p:nvSpPr>
          <p:cNvPr id="16" name="Shape 11"/>
          <p:cNvSpPr/>
          <p:nvPr/>
        </p:nvSpPr>
        <p:spPr>
          <a:xfrm>
            <a:off x="8449056" y="1847088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1644" y="1979676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80576" y="18470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2-Step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8494776" y="269748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LLC + EIN + W-9 (mandatory)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Seller approval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Sam's Club membership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Payoneer / US bank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$1.5k–$3k starting float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493776" y="5669280"/>
            <a:ext cx="11201400" cy="68580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1" name="Text 15"/>
          <p:cNvSpPr/>
          <p:nvPr/>
        </p:nvSpPr>
        <p:spPr>
          <a:xfrm>
            <a:off x="768096" y="5669280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starts until access, paperwork, and float are confirmed — protects us from unpaid work.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384048"/>
            <a:ext cx="1920240" cy="521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Recommendations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we should add to the offer to look more professional and protect the business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88036" y="164592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89204" y="184708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96" y="1984980"/>
            <a:ext cx="254569" cy="25456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56716" y="177393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 layer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156716" y="21031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supplier accounts, prep-center buffer, strict platform-metric monitoring, and clear client disclosure that marketplaces can suspend accounts — put it in the contract.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265676" y="164592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66844" y="184708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736" y="1984980"/>
            <a:ext cx="254569" cy="25456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134356" y="177393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pricing packages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5134356" y="21031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 + monthly retainer, or setup fee + profit split (e.g. 30–50%). Define who funds product float in writing. No 'we'll figure it out later'.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243316" y="164592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444484" y="184708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2376" y="1984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11996" y="177393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tool stack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9111996" y="21031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agreed stack per model (research, listing, repricing, tracking). Bulk-buy licenses so margins improve as clients grow.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88036" y="338328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89204" y="358444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096" y="3722340"/>
            <a:ext cx="254569" cy="25456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56716" y="35112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 system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1156716" y="38404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Friday report template: sales, profit, issues, next actions. This alone reduces churn more than anything else.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265676" y="338328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466844" y="3584448"/>
            <a:ext cx="530352" cy="530352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4736" y="3722340"/>
            <a:ext cx="254569" cy="254569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134356" y="35112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model: TikTok Shop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5134356" y="38404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TikTok Shop is growing fast and fits our sourcing skills — pilot it internally first, then add as a 4th client offer.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8243316" y="338328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444484" y="358444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2376" y="3722340"/>
            <a:ext cx="254569" cy="254569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111996" y="35112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engine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9111996" y="38404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first profitable month, ask every US client for one referral + a testimonial video. US clients trust peer proof.</a:t>
            </a:r>
            <a:endParaRPr lang="en-US" sz="1000" dirty="0"/>
          </a:p>
        </p:txBody>
      </p:sp>
      <p:sp>
        <p:nvSpPr>
          <p:cNvPr id="35" name="Text 26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next step: pilot TikTok Shop with our own store before selling it as a service.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384048"/>
            <a:ext cx="1920240" cy="521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90-Day Client Journey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promise a client — and the KPIs we hold ourselves to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85216" y="2670048"/>
            <a:ext cx="11018520" cy="4114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6" name="Shape 3"/>
          <p:cNvSpPr/>
          <p:nvPr/>
        </p:nvSpPr>
        <p:spPr>
          <a:xfrm>
            <a:off x="1335024" y="237744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1335024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310896" y="3154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1–14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10896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Complete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02336" y="38862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signed, all access collected, sourcing accounts + logistics ready, software configured.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06824" y="237744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9"/>
          <p:cNvSpPr/>
          <p:nvPr/>
        </p:nvSpPr>
        <p:spPr>
          <a:xfrm>
            <a:off x="4306824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282696" y="3154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15–30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282696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Live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374136" y="38862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listings published, trial order shipped end-to-end, daily order workflow running.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78624" y="237744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7278624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254496" y="3154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54496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Consistent Sales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345936" y="38862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products identified, listings scaled weekly, seller metrics kept healthy.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250424" y="2377440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2" name="Text 19"/>
          <p:cNvSpPr/>
          <p:nvPr/>
        </p:nvSpPr>
        <p:spPr>
          <a:xfrm>
            <a:off x="10250424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154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226296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Profitable &amp; Scaling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9317736" y="38862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consistent weekly profit, reorder rhythm on winners, client sees clear ROI and renews.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10896" y="5623560"/>
            <a:ext cx="11567160" cy="731520"/>
          </a:xfrm>
          <a:prstGeom prst="roundRect">
            <a:avLst>
              <a:gd name="adj" fmla="val 12500"/>
            </a:avLst>
          </a:prstGeom>
          <a:solidFill>
            <a:srgbClr val="F4F7FE"/>
          </a:solidFill>
          <a:ln/>
        </p:spPr>
      </p:sp>
      <p:sp>
        <p:nvSpPr>
          <p:cNvPr id="27" name="Text 24"/>
          <p:cNvSpPr/>
          <p:nvPr/>
        </p:nvSpPr>
        <p:spPr>
          <a:xfrm>
            <a:off x="585216" y="562356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promise:  </a:t>
            </a:r>
            <a:pPr indent="0" marL="0">
              <a:buNone/>
            </a:pPr>
            <a:r>
              <a:rPr lang="en-US" sz="13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within 12 business hours, Friday report every week, monthly call in the client's US timezone.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7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-1828800"/>
            <a:ext cx="4389120" cy="4389120"/>
          </a:xfrm>
          <a:prstGeom prst="ellipse">
            <a:avLst/>
          </a:prstGeom>
          <a:solidFill>
            <a:srgbClr val="27306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822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9659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on pricing packages and profit-split terms between us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0" y="28346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the one-page onboarding checklist + contract template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37033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7033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shared tool stack and reporting template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45720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45720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the first USA client using this playbook</a:t>
            </a:r>
            <a:endParaRPr lang="en-US" sz="17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623560"/>
            <a:ext cx="3108960" cy="84124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206240" y="58521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onboard, launch, and scale US ecommerce clients.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2026-08-13T21:11:47Z</dcterms:created>
  <dcterms:modified xsi:type="dcterms:W3CDTF">2026-08-13T21:11:47Z</dcterms:modified>
</cp:coreProperties>
</file>